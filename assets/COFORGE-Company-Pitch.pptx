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89819d83746ab" /><Relationship Type="http://schemas.openxmlformats.org/officeDocument/2006/relationships/extended-properties" Target="/docProps/app.xml" Id="Rbe26034c81e242dc" /><Relationship Type="http://schemas.openxmlformats.org/officeDocument/2006/relationships/officeDocument" Target="/ppt/presentation.xml" Id="R23e55d9a0b89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031b9b57004dfd"/>
  </p:sldMasterIdLst>
  <p:notesMasterIdLst>
    <p:notesMasterId xmlns:r="http://schemas.openxmlformats.org/officeDocument/2006/relationships" r:id="R269f461e380b4c40"/>
  </p:notesMasterIdLst>
  <p:sldIdLst>
    <p:sldId xmlns:r="http://schemas.openxmlformats.org/officeDocument/2006/relationships" id="256" r:id="Rdd1092bfaa124ac0"/>
    <p:sldId xmlns:r="http://schemas.openxmlformats.org/officeDocument/2006/relationships" id="257" r:id="R7ec3bb8723cd4a9c"/>
    <p:sldId xmlns:r="http://schemas.openxmlformats.org/officeDocument/2006/relationships" id="258" r:id="R95cbfb14d6214074"/>
    <p:sldId xmlns:r="http://schemas.openxmlformats.org/officeDocument/2006/relationships" id="259" r:id="Re56e6bd888d34c1d"/>
    <p:sldId xmlns:r="http://schemas.openxmlformats.org/officeDocument/2006/relationships" id="260" r:id="R16ad16dc2f554a35"/>
    <p:sldId xmlns:r="http://schemas.openxmlformats.org/officeDocument/2006/relationships" id="261" r:id="R98098d96186b41bd"/>
    <p:sldId xmlns:r="http://schemas.openxmlformats.org/officeDocument/2006/relationships" id="262" r:id="Rbf7ffd48bafc4fd8"/>
    <p:sldId xmlns:r="http://schemas.openxmlformats.org/officeDocument/2006/relationships" id="263" r:id="R1c955a9599574d87"/>
    <p:sldId xmlns:r="http://schemas.openxmlformats.org/officeDocument/2006/relationships" id="264" r:id="R9f83bac648ec4178"/>
    <p:sldId xmlns:r="http://schemas.openxmlformats.org/officeDocument/2006/relationships" id="265" r:id="R39fdf237ed2e4f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51dc2cb8424f23" /><Relationship Type="http://schemas.openxmlformats.org/officeDocument/2006/relationships/slideMaster" Target="/ppt/slideMasters/slideMaster1.xml" Id="R41031b9b57004dfd" /><Relationship Type="http://schemas.openxmlformats.org/officeDocument/2006/relationships/notesMaster" Target="/ppt/notesMasters/notesMaster1.xml" Id="R269f461e380b4c40" /><Relationship Type="http://schemas.openxmlformats.org/officeDocument/2006/relationships/presProps" Target="/ppt/presProps.xml" Id="R9aace91f28374a9a" /><Relationship Type="http://schemas.openxmlformats.org/officeDocument/2006/relationships/viewProps" Target="/ppt/viewProps.xml" Id="R70530683150d4e14" /><Relationship Type="http://schemas.openxmlformats.org/officeDocument/2006/relationships/tableStyles" Target="/ppt/tableStyles.xml" Id="Rcf2d14792b6e4458" /><Relationship Type="http://schemas.openxmlformats.org/officeDocument/2006/relationships/slide" Target="/ppt/slides/slide1.xml" Id="Rdd1092bfaa124ac0" /><Relationship Type="http://schemas.openxmlformats.org/officeDocument/2006/relationships/slide" Target="/ppt/slides/slide2.xml" Id="R7ec3bb8723cd4a9c" /><Relationship Type="http://schemas.openxmlformats.org/officeDocument/2006/relationships/slide" Target="/ppt/slides/slide3.xml" Id="R95cbfb14d6214074" /><Relationship Type="http://schemas.openxmlformats.org/officeDocument/2006/relationships/slide" Target="/ppt/slides/slide4.xml" Id="Re56e6bd888d34c1d" /><Relationship Type="http://schemas.openxmlformats.org/officeDocument/2006/relationships/slide" Target="/ppt/slides/slide5.xml" Id="R16ad16dc2f554a35" /><Relationship Type="http://schemas.openxmlformats.org/officeDocument/2006/relationships/slide" Target="/ppt/slides/slide6.xml" Id="R98098d96186b41bd" /><Relationship Type="http://schemas.openxmlformats.org/officeDocument/2006/relationships/slide" Target="/ppt/slides/slide7.xml" Id="Rbf7ffd48bafc4fd8" /><Relationship Type="http://schemas.openxmlformats.org/officeDocument/2006/relationships/slide" Target="/ppt/slides/slide8.xml" Id="R1c955a9599574d87" /><Relationship Type="http://schemas.openxmlformats.org/officeDocument/2006/relationships/slide" Target="/ppt/slides/slide9.xml" Id="R9f83bac648ec4178" /><Relationship Type="http://schemas.openxmlformats.org/officeDocument/2006/relationships/slide" Target="/ppt/slides/slide10.xml" Id="R39fdf237ed2e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5965cf81f9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fb2e61b7e4d3e" /><Relationship Type="http://schemas.openxmlformats.org/officeDocument/2006/relationships/notesMaster" Target="/ppt/notesMasters/notesMaster1.xml" Id="R194dbf51402e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70d85fe7a420a" /><Relationship Type="http://schemas.openxmlformats.org/officeDocument/2006/relationships/notesMaster" Target="/ppt/notesMasters/notesMaster1.xml" Id="R7a52b81ead564e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81f088ac264559" /><Relationship Type="http://schemas.openxmlformats.org/officeDocument/2006/relationships/notesMaster" Target="/ppt/notesMasters/notesMaster1.xml" Id="Rf92a494c853f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2654b855be4ba9" /><Relationship Type="http://schemas.openxmlformats.org/officeDocument/2006/relationships/notesMaster" Target="/ppt/notesMasters/notesMaster1.xml" Id="Rfe52c527a965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f9521b9e442c3" /><Relationship Type="http://schemas.openxmlformats.org/officeDocument/2006/relationships/notesMaster" Target="/ppt/notesMasters/notesMaster1.xml" Id="Rcd4a2998501a4c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f7acb032cb4ddf" /><Relationship Type="http://schemas.openxmlformats.org/officeDocument/2006/relationships/notesMaster" Target="/ppt/notesMasters/notesMaster1.xml" Id="Re3e884fb74c240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42863e29a4589" /><Relationship Type="http://schemas.openxmlformats.org/officeDocument/2006/relationships/notesMaster" Target="/ppt/notesMasters/notesMaster1.xml" Id="R5228e07b975847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278e37a6b4ee4" /><Relationship Type="http://schemas.openxmlformats.org/officeDocument/2006/relationships/notesMaster" Target="/ppt/notesMasters/notesMaster1.xml" Id="R4881fe30a96d48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f9e014b9ca47f8" /><Relationship Type="http://schemas.openxmlformats.org/officeDocument/2006/relationships/notesMaster" Target="/ppt/notesMasters/notesMaster1.xml" Id="R0dd16609c46a40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7fd4007e9046d0" /><Relationship Type="http://schemas.openxmlformats.org/officeDocument/2006/relationships/notesMaster" Target="/ppt/notesMasters/notesMaster1.xml" Id="Raece927d371c48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460a439c4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00bbeeb1d4325" /><Relationship Type="http://schemas.openxmlformats.org/officeDocument/2006/relationships/slideLayout" Target="/ppt/slideLayouts/slideLayout1.xml" Id="R68cf6bcfae0749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f6bcfae0749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76e5e1d224afb" /><Relationship Type="http://schemas.openxmlformats.org/officeDocument/2006/relationships/notesSlide" Target="/ppt/notesSlides/notesSlide1.xml" Id="Rbf4191309e16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fac2f429e44d1" /><Relationship Type="http://schemas.openxmlformats.org/officeDocument/2006/relationships/notesSlide" Target="/ppt/notesSlides/notesSlide2.xml" Id="R1964f66cb92646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3a485f16a423f" /><Relationship Type="http://schemas.openxmlformats.org/officeDocument/2006/relationships/notesSlide" Target="/ppt/notesSlides/notesSlide3.xml" Id="R0cc315fab1824c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9910b8ba94511" /><Relationship Type="http://schemas.openxmlformats.org/officeDocument/2006/relationships/notesSlide" Target="/ppt/notesSlides/notesSlide4.xml" Id="Rf9de6bc9de3943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c61e8eaa4f20" /><Relationship Type="http://schemas.openxmlformats.org/officeDocument/2006/relationships/notesSlide" Target="/ppt/notesSlides/notesSlide5.xml" Id="Ra960bc7dbfa0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363a3f9d4212" /><Relationship Type="http://schemas.openxmlformats.org/officeDocument/2006/relationships/notesSlide" Target="/ppt/notesSlides/notesSlide6.xml" Id="R767a9e75e6794b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d67c08e01426a" /><Relationship Type="http://schemas.openxmlformats.org/officeDocument/2006/relationships/notesSlide" Target="/ppt/notesSlides/notesSlide7.xml" Id="Rc5ceea162a7e4d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5d88d94984dc9" /><Relationship Type="http://schemas.openxmlformats.org/officeDocument/2006/relationships/notesSlide" Target="/ppt/notesSlides/notesSlide8.xml" Id="R772b7bb82baf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99369d5874159" /><Relationship Type="http://schemas.openxmlformats.org/officeDocument/2006/relationships/notesSlide" Target="/ppt/notesSlides/notesSlide9.xml" Id="R09c20d142dd845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cb610b7a44d3d" /><Relationship Type="http://schemas.openxmlformats.org/officeDocument/2006/relationships/notesSlide" Target="/ppt/notesSlides/notesSlide10.xml" Id="R0784290370ad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BC81A-FC42-456C-B629-61E388E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COFORGE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FD93D-C235-497D-812D-3BC1004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煤炭经营 Agent 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EF524-F9D0-4DCF-B6E5-B908CF77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把模型、业务引擎、证据链与审批边界封装成一个本地工具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8706-D291-43DC-89C9-03F82C9B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公司内部方案 · deepseek-v4-pro · reasoning_effort=max · Embedded Reasonix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D285D72-20D6-4A79-A03A-0B99E43C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github.com/eric-stone-plus/COFORGE</a:t>
            </a:r>
          </a:p>
        </p:txBody>
      </p:sp>
    </p:spTree>
    <p:extLst>
      <p:ext uri="{BB962C8B-B14F-4D97-AF65-F5344CB8AC3E}">
        <p14:creationId xmlns:p14="http://schemas.microsoft.com/office/powerpoint/2010/main" val="87482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3F07B4-0CFA-497B-880B-417FCE2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AC5FB8-83F6-4C62-B9AD-2528737C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DECISION GAP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CD5C4-5751-417D-9B34-71E2D70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慢的不是计算，而是证据散落在不同环节</a:t>
            </a:r>
          </a:p>
        </p:txBody>
      </p:sp>
      <p:sp>
        <p:nvSpPr>
          <p:cNvPr id="4" name="domain-1">
            <a:extLst xmlns:a="http://schemas.openxmlformats.org/drawingml/2006/main">
              <a:ext uri="{FF2B5EF4-FFF2-40B4-BE49-F238E27FC236}">
                <a16:creationId xmlns:a16="http://schemas.microsoft.com/office/drawing/2014/main" id="{7A25514F-4955-4468-93AC-BBD7385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885950" cy="2571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5" name="domain-1-heading">
            <a:extLst xmlns:a="http://schemas.openxmlformats.org/drawingml/2006/main">
              <a:ext uri="{FF2B5EF4-FFF2-40B4-BE49-F238E27FC236}">
                <a16:creationId xmlns:a16="http://schemas.microsoft.com/office/drawing/2014/main" id="{C27A5C5B-B440-4F3C-BFE4-1E4042E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投标</a:t>
            </a:r>
          </a:p>
        </p:txBody>
      </p:sp>
      <p:sp>
        <p:nvSpPr>
          <p:cNvPr id="6" name="domain-1-body">
            <a:extLst xmlns:a="http://schemas.openxmlformats.org/drawingml/2006/main">
              <a:ext uri="{FF2B5EF4-FFF2-40B4-BE49-F238E27FC236}">
                <a16:creationId xmlns:a16="http://schemas.microsoft.com/office/drawing/2014/main" id="{7EFE7C23-2B24-4F2B-91CD-D86B9CE7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1352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贸易术语、到厂成本、热值归一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报价依据难快速复核</a:t>
            </a:r>
          </a:p>
        </p:txBody>
      </p:sp>
      <p:sp>
        <p:nvSpPr>
          <p:cNvPr id="7" name="domain-2">
            <a:extLst xmlns:a="http://schemas.openxmlformats.org/drawingml/2006/main">
              <a:ext uri="{FF2B5EF4-FFF2-40B4-BE49-F238E27FC236}">
                <a16:creationId xmlns:a16="http://schemas.microsoft.com/office/drawing/2014/main" id="{5EA45590-AAAF-43AF-AAEB-50D50C1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43100"/>
            <a:ext cx="1885950" cy="2571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8" name="domain-2-heading">
            <a:extLst xmlns:a="http://schemas.openxmlformats.org/drawingml/2006/main">
              <a:ext uri="{FF2B5EF4-FFF2-40B4-BE49-F238E27FC236}">
                <a16:creationId xmlns:a16="http://schemas.microsoft.com/office/drawing/2014/main" id="{E288C0FE-757D-4215-B594-52E45FC3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</a:t>
            </a:r>
          </a:p>
        </p:txBody>
      </p:sp>
      <p:sp>
        <p:nvSpPr>
          <p:cNvPr id="9" name="domain-2-body">
            <a:extLst xmlns:a="http://schemas.openxmlformats.org/drawingml/2006/main">
              <a:ext uri="{FF2B5EF4-FFF2-40B4-BE49-F238E27FC236}">
                <a16:creationId xmlns:a16="http://schemas.microsoft.com/office/drawing/2014/main" id="{EA98E04C-1302-489B-9337-B66BCBA4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1352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煤质、内外贸、库存、供应商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不同口径难放在一起比较</a:t>
            </a:r>
          </a:p>
        </p:txBody>
      </p:sp>
      <p:sp>
        <p:nvSpPr>
          <p:cNvPr id="10" name="domain-3">
            <a:extLst xmlns:a="http://schemas.openxmlformats.org/drawingml/2006/main">
              <a:ext uri="{FF2B5EF4-FFF2-40B4-BE49-F238E27FC236}">
                <a16:creationId xmlns:a16="http://schemas.microsoft.com/office/drawing/2014/main" id="{3A3FB7F4-1E83-4D40-9F8A-C49BD1A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1885950" cy="2571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1" name="domain-3-heading">
            <a:extLst xmlns:a="http://schemas.openxmlformats.org/drawingml/2006/main">
              <a:ext uri="{FF2B5EF4-FFF2-40B4-BE49-F238E27FC236}">
                <a16:creationId xmlns:a16="http://schemas.microsoft.com/office/drawing/2014/main" id="{ED9905E9-C598-48B5-89BA-18A50208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71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航运</a:t>
            </a:r>
          </a:p>
        </p:txBody>
      </p:sp>
      <p:sp>
        <p:nvSpPr>
          <p:cNvPr id="12" name="domain-3-body">
            <a:extLst xmlns:a="http://schemas.openxmlformats.org/drawingml/2006/main">
              <a:ext uri="{FF2B5EF4-FFF2-40B4-BE49-F238E27FC236}">
                <a16:creationId xmlns:a16="http://schemas.microsoft.com/office/drawing/2014/main" id="{EE6202E3-363A-4760-904E-F50B0869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352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航次成本、TCE、燃油、Laytime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商业判断与证据分离</a:t>
            </a:r>
          </a:p>
        </p:txBody>
      </p:sp>
      <p:sp>
        <p:nvSpPr>
          <p:cNvPr id="13" name="domain-4">
            <a:extLst xmlns:a="http://schemas.openxmlformats.org/drawingml/2006/main">
              <a:ext uri="{FF2B5EF4-FFF2-40B4-BE49-F238E27FC236}">
                <a16:creationId xmlns:a16="http://schemas.microsoft.com/office/drawing/2014/main" id="{7495F3A7-F91B-4DD8-88A9-D99022B9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1885950" cy="2571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42B3A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4" name="domain-4-heading">
            <a:extLst xmlns:a="http://schemas.openxmlformats.org/drawingml/2006/main">
              <a:ext uri="{FF2B5EF4-FFF2-40B4-BE49-F238E27FC236}">
                <a16:creationId xmlns:a16="http://schemas.microsoft.com/office/drawing/2014/main" id="{E115C3C4-3BD9-4B79-BE1F-C15FA19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履约</a:t>
            </a:r>
          </a:p>
        </p:txBody>
      </p:sp>
      <p:sp>
        <p:nvSpPr>
          <p:cNvPr id="15" name="domain-4-body">
            <a:extLst xmlns:a="http://schemas.openxmlformats.org/drawingml/2006/main">
              <a:ext uri="{FF2B5EF4-FFF2-40B4-BE49-F238E27FC236}">
                <a16:creationId xmlns:a16="http://schemas.microsoft.com/office/drawing/2014/main" id="{DBF11676-1651-4D21-89DA-02052AD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09850"/>
            <a:ext cx="1352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库存、配煤、交付窗口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约束变化要重复手工试算</a:t>
            </a:r>
          </a:p>
        </p:txBody>
      </p:sp>
      <p:sp>
        <p:nvSpPr>
          <p:cNvPr id="16" name="domain-5">
            <a:extLst xmlns:a="http://schemas.openxmlformats.org/drawingml/2006/main">
              <a:ext uri="{FF2B5EF4-FFF2-40B4-BE49-F238E27FC236}">
                <a16:creationId xmlns:a16="http://schemas.microsoft.com/office/drawing/2014/main" id="{82553615-7FEA-43D9-B394-CDDE40FE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1885950" cy="25717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7" name="domain-5-heading">
            <a:extLst xmlns:a="http://schemas.openxmlformats.org/drawingml/2006/main">
              <a:ext uri="{FF2B5EF4-FFF2-40B4-BE49-F238E27FC236}">
                <a16:creationId xmlns:a16="http://schemas.microsoft.com/office/drawing/2014/main" id="{3209776A-9F92-4B2E-9106-832C5E7C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替代</a:t>
            </a:r>
          </a:p>
        </p:txBody>
      </p:sp>
      <p:sp>
        <p:nvSpPr>
          <p:cNvPr id="18" name="domain-5-body">
            <a:extLst xmlns:a="http://schemas.openxmlformats.org/drawingml/2006/main">
              <a:ext uri="{FF2B5EF4-FFF2-40B4-BE49-F238E27FC236}">
                <a16:creationId xmlns:a16="http://schemas.microsoft.com/office/drawing/2014/main" id="{3EF16925-FDDC-44E8-93DD-A7207FE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352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延误船货与候选船货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成本、煤质和罚则要同时看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6DABF-4F57-414E-9338-0FD901E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COFORGE 把问题、计算、查询、结果与审批收进同一条可追溯链。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ED572A65-1477-445C-8D0C-A661CDE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COFORGE README, business engines and query runtime</a:t>
            </a:r>
          </a:p>
        </p:txBody>
      </p:sp>
    </p:spTree>
    <p:extLst>
      <p:ext uri="{BB962C8B-B14F-4D97-AF65-F5344CB8AC3E}">
        <p14:creationId xmlns:p14="http://schemas.microsoft.com/office/powerpoint/2010/main" val="1482586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40865F-9318-41EE-A689-FE1159FD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53A9E5-7691-4075-90F7-520E3A3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ORCHESTRATION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BAB71E-D509-421C-B669-52C8683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一个编排层连接模型、引擎、证据与审计</a:t>
            </a:r>
          </a:p>
        </p:txBody>
      </p:sp>
      <p:sp>
        <p:nvSpPr>
          <p:cNvPr id="4" name="center-workbench">
            <a:extLst xmlns:a="http://schemas.openxmlformats.org/drawingml/2006/main">
              <a:ext uri="{FF2B5EF4-FFF2-40B4-BE49-F238E27FC236}">
                <a16:creationId xmlns:a16="http://schemas.microsoft.com/office/drawing/2014/main" id="{3EF34433-48F3-48ED-A2B0-90A0180F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4381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19050">
            <a:solidFill>
              <a:srgbClr val="2CC4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8BF48-2BB5-4251-B68B-DFF29D4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COFORGE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9023A-6E20-46ED-953B-C94F0705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66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deepseek-v4-pro / max + Reasonix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 engines + governed tools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AA737816-93F7-4DAF-8D8B-65F8E7B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5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6193C-B47F-41C7-9A26-52F910F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经营问题</a:t>
            </a:r>
          </a:p>
        </p:txBody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6BEC74AF-EC62-43B8-A988-4D16663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5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0BA99-DB6D-42F4-A4FF-EBFE9D9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编排</a:t>
            </a:r>
          </a:p>
        </p:txBody>
      </p:sp>
      <p:sp>
        <p:nvSpPr>
          <p:cNvPr id="11" name="node-2">
            <a:extLst xmlns:a="http://schemas.openxmlformats.org/drawingml/2006/main">
              <a:ext uri="{FF2B5EF4-FFF2-40B4-BE49-F238E27FC236}">
                <a16:creationId xmlns:a16="http://schemas.microsoft.com/office/drawing/2014/main" id="{8D71FDCB-DCA8-4337-A01A-F42A700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5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668E2-97B6-4BCA-8C29-E50C503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业务引擎</a:t>
            </a:r>
          </a:p>
        </p:txBody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FEB88F53-946A-4861-86F8-F67FC598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5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E738A-5F97-454E-BB78-B18BE8A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证据执行</a:t>
            </a:r>
          </a:p>
        </p:txBody>
      </p:sp>
      <p:sp>
        <p:nvSpPr>
          <p:cNvPr id="15" name="node-4">
            <a:extLst xmlns:a="http://schemas.openxmlformats.org/drawingml/2006/main">
              <a:ext uri="{FF2B5EF4-FFF2-40B4-BE49-F238E27FC236}">
                <a16:creationId xmlns:a16="http://schemas.microsoft.com/office/drawing/2014/main" id="{A28EF2F1-595A-47BE-89ED-86E701C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5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15DF6-6DC3-45FF-8712-99892A5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14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D8F1D-A309-47B6-8182-E189599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模型负责推理，COFORGE 决定它能看什么、算什么、留下什么证据。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5D74A58-2562-4262-8F85-730F303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Product shape: governed coal-operations Agent workbench</a:t>
            </a:r>
          </a:p>
        </p:txBody>
      </p:sp>
    </p:spTree>
    <p:extLst>
      <p:ext uri="{BB962C8B-B14F-4D97-AF65-F5344CB8AC3E}">
        <p14:creationId xmlns:p14="http://schemas.microsoft.com/office/powerpoint/2010/main" val="1274955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38AB11-53C2-46F1-AE82-6ABEFDCE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915CBE-15BE-4FAD-B739-682F46D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GATED TURN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45150A-BE97-4D14-A801-A8233E0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每一轮 Agent 工作都跨过五道明确闸门</a:t>
            </a:r>
          </a:p>
        </p:txBody>
      </p:sp>
      <p:sp>
        <p:nvSpPr>
          <p:cNvPr id="4" name="loop-01">
            <a:extLst xmlns:a="http://schemas.openxmlformats.org/drawingml/2006/main">
              <a:ext uri="{FF2B5EF4-FFF2-40B4-BE49-F238E27FC236}">
                <a16:creationId xmlns:a16="http://schemas.microsoft.com/office/drawing/2014/main" id="{56494C93-F135-460E-B6DF-A505609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790700" cy="20764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BC5F9-23EA-418F-9709-C0188C8E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843EA-3470-4A30-92BA-3C1CB9E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提出经营问题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26850-1334-4811-A1E3-09944779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目标、口径与权限先确定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DF98B-4944-47A0-A519-64E7BCC9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956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CC4B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loop-02">
            <a:extLst xmlns:a="http://schemas.openxmlformats.org/drawingml/2006/main">
              <a:ext uri="{FF2B5EF4-FFF2-40B4-BE49-F238E27FC236}">
                <a16:creationId xmlns:a16="http://schemas.microsoft.com/office/drawing/2014/main" id="{D081802F-EAC0-40DB-AE38-2D56424B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1790700" cy="20764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70EE9-C0E0-404D-A86D-544BF3CE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2D4D6-B8AD-467C-A737-6BCB2879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选择受控能力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1D065-C9E1-4EB9-8F43-E5062FBF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只开放白名单 schema / 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F7D9D-47B2-401B-8B6D-632B6E9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956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CC4B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4" name="loop-03">
            <a:extLst xmlns:a="http://schemas.openxmlformats.org/drawingml/2006/main">
              <a:ext uri="{FF2B5EF4-FFF2-40B4-BE49-F238E27FC236}">
                <a16:creationId xmlns:a16="http://schemas.microsoft.com/office/drawing/2014/main" id="{D4EBBE97-9DEB-4F91-9ACC-20DE6E6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790700" cy="20764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0384A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79B7D-D791-4B83-8669-0658885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C421C-2A78-4D7B-942D-ECE7DBF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146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验证参数与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31D04-061F-4233-B014-680EF6A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Schema + AST + 上限校验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2B732-12F4-4E96-97A2-20053183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956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CC4B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9" name="loop-04">
            <a:extLst xmlns:a="http://schemas.openxmlformats.org/drawingml/2006/main">
              <a:ext uri="{FF2B5EF4-FFF2-40B4-BE49-F238E27FC236}">
                <a16:creationId xmlns:a16="http://schemas.microsoft.com/office/drawing/2014/main" id="{D0275892-4FA7-4F3C-92FC-5CDFCD0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1790700" cy="20764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BD749-C769-4C55-8BED-0B8AB62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61A2D-1AC9-4BE5-A97A-A397A3E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隔离只读执行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940E6-88CD-4C80-B467-03A5514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子进程、超时、队列、结果限额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E376C-E181-470D-997E-122D63A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956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CC4B6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4" name="loop-05">
            <a:extLst xmlns:a="http://schemas.openxmlformats.org/drawingml/2006/main">
              <a:ext uri="{FF2B5EF4-FFF2-40B4-BE49-F238E27FC236}">
                <a16:creationId xmlns:a16="http://schemas.microsoft.com/office/drawing/2014/main" id="{EA6D7369-D427-45C2-8431-9767DE5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790700" cy="20764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7656F-DA61-4CAF-A3D1-B7C6CE1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1A4A4-C0F3-4B4A-8401-18D8F30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146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回填证据与用量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640FB-203E-4519-9E73-27F8812F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结果哈希、审计与用量结算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5927C-9886-414F-B686-6F902A5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关键差异：Agent 不能绕过工具边界；最终结论必须回到实际执行结果。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20A5F733-BB4E-4154-830F-25E786B4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 chain: schema → validation → isolated execution → audit</a:t>
            </a:r>
          </a:p>
        </p:txBody>
      </p:sp>
    </p:spTree>
    <p:extLst>
      <p:ext uri="{BB962C8B-B14F-4D97-AF65-F5344CB8AC3E}">
        <p14:creationId xmlns:p14="http://schemas.microsoft.com/office/powerpoint/2010/main" val="224584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DFD132-1C7F-474F-B689-5A08DCC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4C5A2A-8998-4A4F-A2D8-D3260E2E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ENGINEERING PROOF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26684C-F853-4196-A799-D2D490E4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工程证据覆盖能力、质量与依赖安全</a:t>
            </a:r>
          </a:p>
        </p:txBody>
      </p:sp>
      <p:sp>
        <p:nvSpPr>
          <p:cNvPr id="4" name="cargoes-value">
            <a:extLst xmlns:a="http://schemas.openxmlformats.org/drawingml/2006/main">
              <a:ext uri="{FF2B5EF4-FFF2-40B4-BE49-F238E27FC236}">
                <a16:creationId xmlns:a16="http://schemas.microsoft.com/office/drawing/2014/main" id="{8D7BCB79-DBEE-4B34-9877-068AD7A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7</a:t>
            </a:r>
          </a:p>
        </p:txBody>
      </p:sp>
      <p:sp>
        <p:nvSpPr>
          <p:cNvPr id="5" name="cargoes-label">
            <a:extLst xmlns:a="http://schemas.openxmlformats.org/drawingml/2006/main">
              <a:ext uri="{FF2B5EF4-FFF2-40B4-BE49-F238E27FC236}">
                <a16:creationId xmlns:a16="http://schemas.microsoft.com/office/drawing/2014/main" id="{10FB3FAB-978E-4001-9967-D02BAA4E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确定性业务引擎</a:t>
            </a:r>
          </a:p>
        </p:txBody>
      </p:sp>
      <p:sp>
        <p:nvSpPr>
          <p:cNvPr id="6" name="indices-value">
            <a:extLst xmlns:a="http://schemas.openxmlformats.org/drawingml/2006/main">
              <a:ext uri="{FF2B5EF4-FFF2-40B4-BE49-F238E27FC236}">
                <a16:creationId xmlns:a16="http://schemas.microsoft.com/office/drawing/2014/main" id="{B124E646-8913-4CDD-ABD1-8D1DE9F5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255</a:t>
            </a:r>
          </a:p>
        </p:txBody>
      </p:sp>
      <p:sp>
        <p:nvSpPr>
          <p:cNvPr id="7" name="indices-label">
            <a:extLst xmlns:a="http://schemas.openxmlformats.org/drawingml/2006/main">
              <a:ext uri="{FF2B5EF4-FFF2-40B4-BE49-F238E27FC236}">
                <a16:creationId xmlns:a16="http://schemas.microsoft.com/office/drawing/2014/main" id="{04A3BC08-E8EF-4C6F-8AC7-CC1920C8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自动化测试通过</a:t>
            </a:r>
          </a:p>
        </p:txBody>
      </p:sp>
      <p:sp>
        <p:nvSpPr>
          <p:cNvPr id="8" name="modules-value">
            <a:extLst xmlns:a="http://schemas.openxmlformats.org/drawingml/2006/main">
              <a:ext uri="{FF2B5EF4-FFF2-40B4-BE49-F238E27FC236}">
                <a16:creationId xmlns:a16="http://schemas.microsoft.com/office/drawing/2014/main" id="{37F28C03-B97F-4A90-99A4-68ED3C7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0</a:t>
            </a:r>
          </a:p>
        </p:txBody>
      </p:sp>
      <p:sp>
        <p:nvSpPr>
          <p:cNvPr id="9" name="modules-label">
            <a:extLst xmlns:a="http://schemas.openxmlformats.org/drawingml/2006/main">
              <a:ext uri="{FF2B5EF4-FFF2-40B4-BE49-F238E27FC236}">
                <a16:creationId xmlns:a16="http://schemas.microsoft.com/office/drawing/2014/main" id="{5FDE1FCE-A064-41BE-B41D-A0F0B8A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高危 npm 漏洞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B915B-5798-49C3-A16E-881B3948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验证范围：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262A5-7F35-45BE-9D09-9575DC5F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—  七个经营引擎、SQL 白名单、隔离执行与取消链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—  Docker 非 root / 只读运行、SBOM、许可证与公开边界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—  Reasonix 固定版本/哈希、Keychain 与 deepseek-v4-pro / max 请求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49FB70C-25DB-4253-A0B4-B0F1A8B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final local verification on 2026-07-13</a:t>
            </a:r>
          </a:p>
        </p:txBody>
      </p:sp>
    </p:spTree>
    <p:extLst>
      <p:ext uri="{BB962C8B-B14F-4D97-AF65-F5344CB8AC3E}">
        <p14:creationId xmlns:p14="http://schemas.microsoft.com/office/powerpoint/2010/main" val="607426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5D30CB-6A84-4308-AD1E-30CC25C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22F272-5530-476E-848A-9A1322E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OPERATING CHAIN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A153EE-E784-40A3-B707-C7275BA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七个引擎组成一条经营决策链</a:t>
            </a:r>
          </a:p>
        </p:txBody>
      </p:sp>
      <p:sp>
        <p:nvSpPr>
          <p:cNvPr id="4" name="module-covista">
            <a:extLst xmlns:a="http://schemas.openxmlformats.org/drawingml/2006/main">
              <a:ext uri="{FF2B5EF4-FFF2-40B4-BE49-F238E27FC236}">
                <a16:creationId xmlns:a16="http://schemas.microsoft.com/office/drawing/2014/main" id="{124C0B59-27F9-427A-9009-444FAEE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84A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5" name="module-covista-heading">
            <a:extLst xmlns:a="http://schemas.openxmlformats.org/drawingml/2006/main">
              <a:ext uri="{FF2B5EF4-FFF2-40B4-BE49-F238E27FC236}">
                <a16:creationId xmlns:a16="http://schemas.microsoft.com/office/drawing/2014/main" id="{B31D4200-D0E7-4C9A-898C-60BA7844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投标 + 采购</a:t>
            </a:r>
          </a:p>
        </p:txBody>
      </p:sp>
      <p:sp>
        <p:nvSpPr>
          <p:cNvPr id="6" name="module-covista-body">
            <a:extLst xmlns:a="http://schemas.openxmlformats.org/drawingml/2006/main">
              <a:ext uri="{FF2B5EF4-FFF2-40B4-BE49-F238E27FC236}">
                <a16:creationId xmlns:a16="http://schemas.microsoft.com/office/drawing/2014/main" id="{E98319D9-D928-45E1-9440-CCD5175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BIDDING / SOURCING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成本归一、敏感性、煤质、供应商</a:t>
            </a:r>
          </a:p>
        </p:txBody>
      </p:sp>
      <p:sp>
        <p:nvSpPr>
          <p:cNvPr id="7" name="module-cofare">
            <a:extLst xmlns:a="http://schemas.openxmlformats.org/drawingml/2006/main">
              <a:ext uri="{FF2B5EF4-FFF2-40B4-BE49-F238E27FC236}">
                <a16:creationId xmlns:a16="http://schemas.microsoft.com/office/drawing/2014/main" id="{EF4EA9CB-E000-489E-9A35-D8956D5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8" name="module-cofare-heading">
            <a:extLst xmlns:a="http://schemas.openxmlformats.org/drawingml/2006/main">
              <a:ext uri="{FF2B5EF4-FFF2-40B4-BE49-F238E27FC236}">
                <a16:creationId xmlns:a16="http://schemas.microsoft.com/office/drawing/2014/main" id="{463E8053-8935-4873-BF9C-1BAC7932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航次 + LAYTIME</a:t>
            </a:r>
          </a:p>
        </p:txBody>
      </p:sp>
      <p:sp>
        <p:nvSpPr>
          <p:cNvPr id="9" name="module-cofare-body">
            <a:extLst xmlns:a="http://schemas.openxmlformats.org/drawingml/2006/main">
              <a:ext uri="{FF2B5EF4-FFF2-40B4-BE49-F238E27FC236}">
                <a16:creationId xmlns:a16="http://schemas.microsoft.com/office/drawing/2014/main" id="{6B789899-29F8-46A2-B3E7-FD5A412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14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FREIGHT / LAYTIME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航次成本、TCE、燃油与滞期</a:t>
            </a:r>
          </a:p>
        </p:txBody>
      </p:sp>
      <p:sp>
        <p:nvSpPr>
          <p:cNvPr id="10" name="module-corice">
            <a:extLst xmlns:a="http://schemas.openxmlformats.org/drawingml/2006/main">
              <a:ext uri="{FF2B5EF4-FFF2-40B4-BE49-F238E27FC236}">
                <a16:creationId xmlns:a16="http://schemas.microsoft.com/office/drawing/2014/main" id="{6186D613-4F31-4065-8329-294DEAFF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1" name="module-corice-heading">
            <a:extLst xmlns:a="http://schemas.openxmlformats.org/drawingml/2006/main">
              <a:ext uri="{FF2B5EF4-FFF2-40B4-BE49-F238E27FC236}">
                <a16:creationId xmlns:a16="http://schemas.microsoft.com/office/drawing/2014/main" id="{31CE2743-3B3E-4495-B5BD-34B6C13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滚动库存</a:t>
            </a:r>
          </a:p>
        </p:txBody>
      </p:sp>
      <p:sp>
        <p:nvSpPr>
          <p:cNvPr id="12" name="module-corice-body">
            <a:extLst xmlns:a="http://schemas.openxmlformats.org/drawingml/2006/main">
              <a:ext uri="{FF2B5EF4-FFF2-40B4-BE49-F238E27FC236}">
                <a16:creationId xmlns:a16="http://schemas.microsoft.com/office/drawing/2014/main" id="{F65D835D-9878-4ACC-AB34-EE2F38D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INVENTORY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多期采购、持有、缺货与期末约束</a:t>
            </a:r>
          </a:p>
        </p:txBody>
      </p:sp>
      <p:sp>
        <p:nvSpPr>
          <p:cNvPr id="13" name="module-coblop">
            <a:extLst xmlns:a="http://schemas.openxmlformats.org/drawingml/2006/main">
              <a:ext uri="{FF2B5EF4-FFF2-40B4-BE49-F238E27FC236}">
                <a16:creationId xmlns:a16="http://schemas.microsoft.com/office/drawing/2014/main" id="{320D5276-8229-49DA-B478-1AF1677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905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4" name="module-coblop-heading">
            <a:extLst xmlns:a="http://schemas.openxmlformats.org/drawingml/2006/main">
              <a:ext uri="{FF2B5EF4-FFF2-40B4-BE49-F238E27FC236}">
                <a16:creationId xmlns:a16="http://schemas.microsoft.com/office/drawing/2014/main" id="{A4492BC4-702B-4A1D-A0E9-C767635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71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配煤优化</a:t>
            </a:r>
          </a:p>
        </p:txBody>
      </p:sp>
      <p:sp>
        <p:nvSpPr>
          <p:cNvPr id="15" name="module-coblop-body">
            <a:extLst xmlns:a="http://schemas.openxmlformats.org/drawingml/2006/main">
              <a:ext uri="{FF2B5EF4-FFF2-40B4-BE49-F238E27FC236}">
                <a16:creationId xmlns:a16="http://schemas.microsoft.com/office/drawing/2014/main" id="{A1102161-AA3D-4AC4-9ADF-4A06C88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4371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BLENDING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质量与库存硬约束下离散求解</a:t>
            </a:r>
          </a:p>
        </p:txBody>
      </p:sp>
      <p:sp>
        <p:nvSpPr>
          <p:cNvPr id="16" name="module-coswap">
            <a:extLst xmlns:a="http://schemas.openxmlformats.org/drawingml/2006/main">
              <a:ext uri="{FF2B5EF4-FFF2-40B4-BE49-F238E27FC236}">
                <a16:creationId xmlns:a16="http://schemas.microsoft.com/office/drawing/2014/main" id="{13151A15-813A-45A4-9F1E-2E6E25B2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490537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30384A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17" name="module-coswap-heading">
            <a:extLst xmlns:a="http://schemas.openxmlformats.org/drawingml/2006/main">
              <a:ext uri="{FF2B5EF4-FFF2-40B4-BE49-F238E27FC236}">
                <a16:creationId xmlns:a16="http://schemas.microsoft.com/office/drawing/2014/main" id="{EBF5F726-E96F-4642-A3D3-A243AD63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4371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换船替代</a:t>
            </a:r>
          </a:p>
        </p:txBody>
      </p:sp>
      <p:sp>
        <p:nvSpPr>
          <p:cNvPr id="18" name="module-coswap-body">
            <a:extLst xmlns:a="http://schemas.openxmlformats.org/drawingml/2006/main">
              <a:ext uri="{FF2B5EF4-FFF2-40B4-BE49-F238E27FC236}">
                <a16:creationId xmlns:a16="http://schemas.microsoft.com/office/drawing/2014/main" id="{B7812746-192A-4D26-8B23-C305F178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4371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COSWAP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资格过滤后逐延误船候选排名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1C02B-D761-4F8B-96C5-5BBD361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五个工作面、七个确定性引擎，共享方法版本、假设、单位与审计口径。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A198EDCC-A8C4-4A69-9698-9B809F1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Source: src/lib/business and tests/business</a:t>
            </a:r>
          </a:p>
        </p:txBody>
      </p:sp>
    </p:spTree>
    <p:extLst>
      <p:ext uri="{BB962C8B-B14F-4D97-AF65-F5344CB8AC3E}">
        <p14:creationId xmlns:p14="http://schemas.microsoft.com/office/powerpoint/2010/main" val="4199714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34A6A2-37BB-4A25-97CB-2D461F51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21D697-FB44-414D-B72A-3A5EC9B3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 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DCDA4C-C6F7-414B-9129-B3D5BF7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本地数据、只读执行与 BYOK 保留控制权</a:t>
            </a:r>
          </a:p>
        </p:txBody>
      </p:sp>
      <p:sp>
        <p:nvSpPr>
          <p:cNvPr id="4" name="trust-data">
            <a:extLst xmlns:a="http://schemas.openxmlformats.org/drawingml/2006/main">
              <a:ext uri="{FF2B5EF4-FFF2-40B4-BE49-F238E27FC236}">
                <a16:creationId xmlns:a16="http://schemas.microsoft.com/office/drawing/2014/main" id="{5072DFC4-4303-41BF-9F73-3AE4282A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3381375" cy="34099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5" name="trust-data-heading">
            <a:extLst xmlns:a="http://schemas.openxmlformats.org/drawingml/2006/main">
              <a:ext uri="{FF2B5EF4-FFF2-40B4-BE49-F238E27FC236}">
                <a16:creationId xmlns:a16="http://schemas.microsoft.com/office/drawing/2014/main" id="{4BEEA89D-3507-439D-956C-AAFCCEAC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数据与执行</a:t>
            </a:r>
          </a:p>
        </p:txBody>
      </p:sp>
      <p:sp>
        <p:nvSpPr>
          <p:cNvPr id="6" name="trust-data-body">
            <a:extLst xmlns:a="http://schemas.openxmlformats.org/drawingml/2006/main">
              <a:ext uri="{FF2B5EF4-FFF2-40B4-BE49-F238E27FC236}">
                <a16:creationId xmlns:a16="http://schemas.microsoft.com/office/drawing/2014/main" id="{D13BBB1C-EF51-4571-8B4C-59898188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28479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公开版只含合成 SQLite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生产数据走私有适配器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单条 SELECT，隔离只读执行</a:t>
            </a:r>
          </a:p>
        </p:txBody>
      </p:sp>
      <p:sp>
        <p:nvSpPr>
          <p:cNvPr id="7" name="trust-sql">
            <a:extLst xmlns:a="http://schemas.openxmlformats.org/drawingml/2006/main">
              <a:ext uri="{FF2B5EF4-FFF2-40B4-BE49-F238E27FC236}">
                <a16:creationId xmlns:a16="http://schemas.microsoft.com/office/drawing/2014/main" id="{9B8795C8-F133-42B4-AF85-199D258D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381375" cy="34099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8" name="trust-sql-heading">
            <a:extLst xmlns:a="http://schemas.openxmlformats.org/drawingml/2006/main">
              <a:ext uri="{FF2B5EF4-FFF2-40B4-BE49-F238E27FC236}">
                <a16:creationId xmlns:a16="http://schemas.microsoft.com/office/drawing/2014/main" id="{84D1C75B-5B74-44DB-82B0-61FF84F5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1455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与工具</a:t>
            </a:r>
          </a:p>
        </p:txBody>
      </p:sp>
      <p:sp>
        <p:nvSpPr>
          <p:cNvPr id="9" name="trust-sql-body">
            <a:extLst xmlns:a="http://schemas.openxmlformats.org/drawingml/2006/main">
              <a:ext uri="{FF2B5EF4-FFF2-40B4-BE49-F238E27FC236}">
                <a16:creationId xmlns:a16="http://schemas.microsoft.com/office/drawing/2014/main" id="{E08AD838-E8A0-43E6-B662-B60CD82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28479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Reasonix 独立 home + cwd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 deny 权限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仅放行 mcp__coforge__*</a:t>
            </a:r>
          </a:p>
        </p:txBody>
      </p:sp>
      <p:sp>
        <p:nvSpPr>
          <p:cNvPr id="10" name="trust-model">
            <a:extLst xmlns:a="http://schemas.openxmlformats.org/drawingml/2006/main">
              <a:ext uri="{FF2B5EF4-FFF2-40B4-BE49-F238E27FC236}">
                <a16:creationId xmlns:a16="http://schemas.microsoft.com/office/drawing/2014/main" id="{8DF248CE-01FC-4733-86BD-43817351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381375" cy="34099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1" name="trust-model-heading">
            <a:extLst xmlns:a="http://schemas.openxmlformats.org/drawingml/2006/main">
              <a:ext uri="{FF2B5EF4-FFF2-40B4-BE49-F238E27FC236}">
                <a16:creationId xmlns:a16="http://schemas.microsoft.com/office/drawing/2014/main" id="{7911C2A9-41F3-4DD5-9FFE-7DAC43F8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模型与凭据</a:t>
            </a:r>
          </a:p>
        </p:txBody>
      </p:sp>
      <p:sp>
        <p:nvSpPr>
          <p:cNvPr id="12" name="trust-model-body">
            <a:extLst xmlns:a="http://schemas.openxmlformats.org/drawingml/2006/main">
              <a:ext uri="{FF2B5EF4-FFF2-40B4-BE49-F238E27FC236}">
                <a16:creationId xmlns:a16="http://schemas.microsoft.com/office/drawing/2014/main" id="{07DD17E4-7CD1-4DEA-9A7D-E78ECCA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479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 deepseek-v4-pro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reasoning_effort=max；每位同事 BYOK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macOS Keychain，不做明文降级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76995-4621-484B-85FE-0C214D05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控制面先于生产接入：模型供应商可替换，但数据、权限与证据边界留在 COFORGE。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C7127D9-377E-4841-B4BE-F419A18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Boundary: local-first execution, BYOK credentials, fail-closed tools</a:t>
            </a:r>
          </a:p>
        </p:txBody>
      </p:sp>
    </p:spTree>
    <p:extLst>
      <p:ext uri="{BB962C8B-B14F-4D97-AF65-F5344CB8AC3E}">
        <p14:creationId xmlns:p14="http://schemas.microsoft.com/office/powerpoint/2010/main" val="1573158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BA1A02-1158-4879-A7CF-9805DBA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A6ED1A-D8B3-40AA-B943-3D69FDAC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CLEAN RELEASE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D0684E-7D7C-4915-9F4B-78E900D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干净源码与私有历史分开，公开发布不留尾巴</a:t>
            </a:r>
          </a:p>
        </p:txBody>
      </p:sp>
      <p:sp>
        <p:nvSpPr>
          <p:cNvPr id="4" name="public-coforge">
            <a:extLst xmlns:a="http://schemas.openxmlformats.org/drawingml/2006/main">
              <a:ext uri="{FF2B5EF4-FFF2-40B4-BE49-F238E27FC236}">
                <a16:creationId xmlns:a16="http://schemas.microsoft.com/office/drawing/2014/main" id="{7DFC0A16-20F1-4972-9ABA-8D90086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50292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5" name="public-coforge-heading">
            <a:extLst xmlns:a="http://schemas.openxmlformats.org/drawingml/2006/main">
              <a:ext uri="{FF2B5EF4-FFF2-40B4-BE49-F238E27FC236}">
                <a16:creationId xmlns:a16="http://schemas.microsoft.com/office/drawing/2014/main" id="{84C0C747-B8B0-46E4-83FB-AE78F283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Public COFORGE</a:t>
            </a:r>
          </a:p>
        </p:txBody>
      </p:sp>
      <p:sp>
        <p:nvSpPr>
          <p:cNvPr id="6" name="public-coforge-body">
            <a:extLst xmlns:a="http://schemas.openxmlformats.org/drawingml/2006/main">
              <a:ext uri="{FF2B5EF4-FFF2-40B4-BE49-F238E27FC236}">
                <a16:creationId xmlns:a16="http://schemas.microsoft.com/office/drawing/2014/main" id="{8FBACD0D-1542-4E60-9B9A-59E79D82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495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单一干净根提交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不含 legacy、Git bundle 或私有路径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Apache-2.0 + CI / CodeQL / secret scan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SBOM、Dependency Graph 与 Dependabot</a:t>
            </a:r>
          </a:p>
        </p:txBody>
      </p:sp>
      <p:sp>
        <p:nvSpPr>
          <p:cNvPr id="7" name="legacy-archive">
            <a:extLst xmlns:a="http://schemas.openxmlformats.org/drawingml/2006/main">
              <a:ext uri="{FF2B5EF4-FFF2-40B4-BE49-F238E27FC236}">
                <a16:creationId xmlns:a16="http://schemas.microsoft.com/office/drawing/2014/main" id="{DF58052C-8A26-49DC-84C5-1A7BEE86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50292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8" name="legacy-archive-heading">
            <a:extLst xmlns:a="http://schemas.openxmlformats.org/drawingml/2006/main">
              <a:ext uri="{FF2B5EF4-FFF2-40B4-BE49-F238E27FC236}">
                <a16:creationId xmlns:a16="http://schemas.microsoft.com/office/drawing/2014/main" id="{D290D1E2-94D9-439E-97E6-6643209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Private Archive</a:t>
            </a:r>
          </a:p>
        </p:txBody>
      </p:sp>
      <p:sp>
        <p:nvSpPr>
          <p:cNvPr id="9" name="legacy-archive-body">
            <a:extLst xmlns:a="http://schemas.openxmlformats.org/drawingml/2006/main">
              <a:ext uri="{FF2B5EF4-FFF2-40B4-BE49-F238E27FC236}">
                <a16:creationId xmlns:a16="http://schemas.microsoft.com/office/drawing/2014/main" id="{0875571E-F61F-4839-BF6A-AEBABAC6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495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旧仓库改名、转私有并归档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保留完整 Git 历史与旧工具快照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Actions 关闭，不再作为产品入口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需要时仍可审计与恢复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9F6D6-6F8B-4B4A-9CEC-6B6C02B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公开仓库只承担产品源码与合成资产；历史保全与公开发布边界不再冲突。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D9BC89D-85C4-4731-BE73-775C448F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Release boundary: clean public root + private archived history</a:t>
            </a:r>
          </a:p>
        </p:txBody>
      </p:sp>
    </p:spTree>
    <p:extLst>
      <p:ext uri="{BB962C8B-B14F-4D97-AF65-F5344CB8AC3E}">
        <p14:creationId xmlns:p14="http://schemas.microsoft.com/office/powerpoint/2010/main" val="901157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3879AD-E1B1-4785-8BE0-F55B969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4E"/>
          </a:solidFill>
          <a:ln xmlns:a="http://schemas.openxmlformats.org/drawingml/2006/main" w="0">
            <a:solidFill>
              <a:srgbClr val="E6B84E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593445A-285A-4B52-B957-041465D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EMBEDDED REASONIX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A365BD-DB97-4FD4-96AA-44C60A6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Reasonix 被封装成内置 Agent runtime，而不是第二个产品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278E9A07-67D1-48BD-9355-0484167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30384A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5EBF-F9AB-47E1-ACF1-F1FBF14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BA1DD-F13A-45AB-88BF-48515EC1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Pinned binary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82E2D-0487-48C0-B7A6-CC8106F4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v1.17.11 固定版本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六平台 SHA-256 校验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C3A78CC7-36CD-45ED-ABE2-30F85A8F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93A8D-4FCF-41F6-977B-F8478DE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06144-EFBD-44CA-AB54-57219ECF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Isolated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48374-5357-4EF2-9679-6A65804E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独立 home + 空 cwd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不读项目配置与 skills</a:t>
            </a:r>
          </a:p>
        </p:txBody>
      </p:sp>
      <p:sp>
        <p:nvSpPr>
          <p:cNvPr id="12" name="stage-3">
            <a:extLst xmlns:a="http://schemas.openxmlformats.org/drawingml/2006/main">
              <a:ext uri="{FF2B5EF4-FFF2-40B4-BE49-F238E27FC236}">
                <a16:creationId xmlns:a16="http://schemas.microsoft.com/office/drawing/2014/main" id="{2D4F34F9-F223-4A7D-8DCB-82EE5003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5C5AE-74D8-4695-B9A1-BB3F3BAC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EF050-CDF9-42B4-B89F-030F79B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Fail-closed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C3733-C5D9-4C24-BA8F-5AE69541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 deny；仅放行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mcp__coforge__* 调用</a:t>
            </a:r>
          </a:p>
        </p:txBody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9E62CC3C-5CEC-4809-80EA-3C79B6D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3B43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88B36-58AE-49E5-B641-A2CF029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60624-D9E1-4E98-93F5-5CE13BC7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ACP 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5555E-FD3F-4044-8C2A-57056091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86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ACP 会话全周期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取消、超时、崩溃恢复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5B69A-7A38-4BED-B466-4FED570F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DeepSeek key 长期只在系统凭据库；会话兼容桥加载后立即删除 0600 临时文件。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206B6C5E-BDE9-4BEF-A10C-28C833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Pinned upstream: v1.17.11 · commit 20a64b4 · ACP v1</a:t>
            </a:r>
          </a:p>
        </p:txBody>
      </p:sp>
    </p:spTree>
    <p:extLst>
      <p:ext uri="{BB962C8B-B14F-4D97-AF65-F5344CB8AC3E}">
        <p14:creationId xmlns:p14="http://schemas.microsoft.com/office/powerpoint/2010/main" val="2050660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5DE2C-DCDD-48FB-917F-4DECCFA1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COFORGE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D4455-DA84-4985-AB83-C405F11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7ADB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建议批准一个私有数据域试点，用明确闸门验证完整闭环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9BF3A-7881-4E1D-931E-73D0A87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本周只需要确认三件事：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CF81E-80EF-4D11-8F53-9ACE756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1. 选择一个真实业务域与负责人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2. 定义数据字段、只读权限与验收问题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3. 以证据链、准确性、时延和成本决定是否扩面</a:t>
            </a:r>
          </a:p>
        </p:txBody>
      </p:sp>
      <p:sp>
        <p:nvSpPr>
          <p:cNvPr id="5" name="repo-card">
            <a:extLst xmlns:a="http://schemas.openxmlformats.org/drawingml/2006/main">
              <a:ext uri="{FF2B5EF4-FFF2-40B4-BE49-F238E27FC236}">
                <a16:creationId xmlns:a16="http://schemas.microsoft.com/office/drawing/2014/main" id="{12FC12EA-7665-496E-AA3E-B8197BB6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B3242"/>
          </a:solidFill>
          <a:ln xmlns:a="http://schemas.openxmlformats.org/drawingml/2006/main" w="9525">
            <a:solidFill>
              <a:srgbClr val="2CC4B6"/>
            </a:solidFill>
            <a:prstDash val="solid"/>
          </a:ln>
        </p:spPr>
      </p:sp>
      <p:sp>
        <p:nvSpPr>
          <p:cNvPr id="6" name="repo-card-heading">
            <a:extLst xmlns:a="http://schemas.openxmlformats.org/drawingml/2006/main">
              <a:ext uri="{FF2B5EF4-FFF2-40B4-BE49-F238E27FC236}">
                <a16:creationId xmlns:a16="http://schemas.microsoft.com/office/drawing/2014/main" id="{23748C03-CC84-4200-9243-35C0F329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B84E"/>
                </a:solidFill>
                <a:latin typeface="Microsoft YaHei"/>
                <a:ea typeface="Microsoft YaHei"/>
                <a:cs typeface="Microsoft YaHei"/>
              </a:defRPr>
            </a:pPr>
            <a:r>
              <a:t>Pilot gates</a:t>
            </a:r>
          </a:p>
        </p:txBody>
      </p:sp>
      <p:sp>
        <p:nvSpPr>
          <p:cNvPr id="7" name="repo-card-body">
            <a:extLst xmlns:a="http://schemas.openxmlformats.org/drawingml/2006/main">
              <a:ext uri="{FF2B5EF4-FFF2-40B4-BE49-F238E27FC236}">
                <a16:creationId xmlns:a16="http://schemas.microsoft.com/office/drawing/2014/main" id="{02190CD2-405E-4916-9913-A179C7A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533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范围：单一私有数据域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边界：只读 + BYOK + 审计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t>退出：任何安全或准确性门槛不通过即停止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F18EA38-B6F3-4355-9B7F-BBFBCDA9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77F91"/>
                </a:solidFill>
                <a:latin typeface="Microsoft YaHei"/>
                <a:ea typeface="Microsoft YaHei"/>
                <a:cs typeface="Microsoft YaHei"/>
              </a:defRPr>
            </a:pPr>
            <a:r>
              <a:t>github.com/eric-stone-plus/COFORGE</a:t>
            </a:r>
          </a:p>
        </p:txBody>
      </p:sp>
    </p:spTree>
    <p:extLst>
      <p:ext uri="{BB962C8B-B14F-4D97-AF65-F5344CB8AC3E}">
        <p14:creationId xmlns:p14="http://schemas.microsoft.com/office/powerpoint/2010/main" val="1835283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2026-07-12T23:07:43.0970000Z</dcterms:created>
  <dcterms:modified xsi:type="dcterms:W3CDTF">2026-07-12T23:07:43.0970000Z</dcterms:modified>
</coreProperties>
</file>